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0F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32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gif"/><Relationship Id="rId3" Type="http://schemas.openxmlformats.org/officeDocument/2006/relationships/image" Target="../media/image2.gif"/><Relationship Id="rId7" Type="http://schemas.openxmlformats.org/officeDocument/2006/relationships/image" Target="../media/image6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gif"/><Relationship Id="rId5" Type="http://schemas.openxmlformats.org/officeDocument/2006/relationships/image" Target="../media/image4.gif"/><Relationship Id="rId4" Type="http://schemas.openxmlformats.org/officeDocument/2006/relationships/image" Target="../media/image3.gif"/><Relationship Id="rId9" Type="http://schemas.openxmlformats.org/officeDocument/2006/relationships/image" Target="../media/image8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406640" y="1554480"/>
            <a:ext cx="4023360" cy="3260153"/>
          </a:xfrm>
          <a:prstGeom prst="roundRect">
            <a:avLst/>
          </a:prstGeom>
          <a:solidFill>
            <a:srgbClr val="17243B"/>
          </a:solidFill>
          <a:ln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778240" y="1874520"/>
            <a:ext cx="27432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30D3BE"/>
                </a:solidFill>
                <a:latin typeface="Aptos"/>
              </a:defRPr>
            </a:pPr>
            <a:r>
              <a:rPr dirty="0"/>
              <a:t>API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3409" y="2830966"/>
            <a:ext cx="4972390" cy="5693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F2F6FC"/>
                </a:solidFill>
                <a:latin typeface="Aptos"/>
              </a:defRPr>
            </a:pPr>
            <a:r>
              <a:rPr dirty="0" smtClean="0"/>
              <a:t>OWASP</a:t>
            </a:r>
            <a:r>
              <a:rPr lang="es-ES" dirty="0" smtClean="0"/>
              <a:t> </a:t>
            </a:r>
            <a:r>
              <a:rPr dirty="0" smtClean="0"/>
              <a:t>×</a:t>
            </a:r>
            <a:r>
              <a:rPr lang="es-ES" dirty="0" smtClean="0"/>
              <a:t> </a:t>
            </a:r>
            <a:r>
              <a:rPr dirty="0" smtClean="0"/>
              <a:t>Node.js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6675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30D3BE"/>
                </a:solidFill>
                <a:latin typeface="Aptos"/>
              </a:defRPr>
            </a:pPr>
            <a:r>
              <a:rPr dirty="0"/>
              <a:t>TRABAJO DE INVESTIGACIÓN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685800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3400" b="1">
                <a:solidFill>
                  <a:srgbClr val="F2F6FC"/>
                </a:solidFill>
                <a:latin typeface="Aptos"/>
              </a:defRPr>
            </a:pPr>
            <a:r>
              <a:t>Seguridad en APIs</a:t>
            </a:r>
          </a:p>
          <a:p>
            <a:pPr>
              <a:spcAft>
                <a:spcPts val="500"/>
              </a:spcAft>
              <a:defRPr sz="3400" b="1">
                <a:solidFill>
                  <a:srgbClr val="F2F6FC"/>
                </a:solidFill>
                <a:latin typeface="Aptos"/>
              </a:defRPr>
            </a:pPr>
            <a:r>
              <a:t>con Node.js y Express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62179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ADBCCF"/>
                </a:solidFill>
                <a:latin typeface="Aptos"/>
              </a:defRPr>
            </a:pPr>
            <a:r>
              <a:t>Cómo identificar vulnerabilidades comunes y corregirlas con ejemplos de código.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943600"/>
            <a:ext cx="5943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B25C"/>
                </a:solidFill>
                <a:latin typeface="Aptos"/>
              </a:defRPr>
            </a:pPr>
            <a:r>
              <a:t>Demo: versión vulnerable vs. versión corregida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DBCCF"/>
                </a:solidFill>
                <a:latin typeface="Aptos"/>
              </a:defRPr>
            </a:pPr>
            <a:r>
              <a:t>OWASP · Seguridad en APIs con Node.js / Express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30D3B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5"/>
          <p:cNvSpPr txBox="1"/>
          <p:nvPr/>
        </p:nvSpPr>
        <p:spPr>
          <a:xfrm>
            <a:off x="777240" y="3081528"/>
            <a:ext cx="6675120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30D3BE"/>
                </a:solidFill>
                <a:latin typeface="Aptos"/>
              </a:defRPr>
            </a:pPr>
            <a:r>
              <a:rPr lang="es-ES" dirty="0" smtClean="0"/>
              <a:t>Facundo Lukacher, Pedro Malowicki, Dante Martínez Yucovsky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30D3BE"/>
                </a:solidFill>
                <a:latin typeface="Aptos"/>
              </a:defRPr>
            </a:pPr>
            <a:r>
              <a:t>01 · 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2F6FC"/>
                </a:solidFill>
                <a:latin typeface="Aptos"/>
              </a:defRPr>
            </a:pPr>
            <a:r>
              <a:t>¿Cuál es el problema?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ADBCCF"/>
                </a:solidFill>
                <a:latin typeface="Aptos"/>
              </a:defRPr>
            </a:pPr>
            <a:r>
              <a:rPr dirty="0" err="1"/>
              <a:t>Una</a:t>
            </a:r>
            <a:r>
              <a:rPr dirty="0"/>
              <a:t> </a:t>
            </a:r>
            <a:r>
              <a:rPr dirty="0" err="1" smtClean="0"/>
              <a:t>auditoría</a:t>
            </a:r>
            <a:r>
              <a:rPr dirty="0" smtClean="0"/>
              <a:t> </a:t>
            </a:r>
            <a:r>
              <a:rPr dirty="0" err="1"/>
              <a:t>detectó</a:t>
            </a:r>
            <a:r>
              <a:rPr dirty="0"/>
              <a:t> </a:t>
            </a:r>
            <a:r>
              <a:rPr dirty="0" err="1"/>
              <a:t>debilidades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API. El </a:t>
            </a:r>
            <a:r>
              <a:rPr dirty="0" err="1"/>
              <a:t>objetivo</a:t>
            </a:r>
            <a:r>
              <a:rPr dirty="0"/>
              <a:t> </a:t>
            </a:r>
            <a:r>
              <a:rPr dirty="0" err="1"/>
              <a:t>es</a:t>
            </a:r>
            <a:r>
              <a:rPr dirty="0"/>
              <a:t> </a:t>
            </a:r>
            <a:r>
              <a:rPr dirty="0" err="1"/>
              <a:t>entenderlas</a:t>
            </a:r>
            <a:r>
              <a:rPr dirty="0"/>
              <a:t> y </a:t>
            </a:r>
            <a:r>
              <a:rPr dirty="0" err="1"/>
              <a:t>corregirlas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DBCCF"/>
                </a:solidFill>
                <a:latin typeface="Aptos"/>
              </a:defRPr>
            </a:pPr>
            <a:r>
              <a:t>OWASP · Seguridad en APIs con Node.js / Express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30D3B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3520440" cy="3154680"/>
          </a:xfrm>
          <a:prstGeom prst="roundRect">
            <a:avLst/>
          </a:prstGeom>
          <a:solidFill>
            <a:srgbClr val="17243B"/>
          </a:solidFill>
          <a:ln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29260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6973"/>
                </a:solidFill>
                <a:latin typeface="Aptos"/>
              </a:defRPr>
            </a:pPr>
            <a:r>
              <a:t>VULNERABILIDAD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34640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2F6FC"/>
                </a:solidFill>
                <a:latin typeface="Aptos"/>
              </a:defRPr>
            </a:pP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falla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el </a:t>
            </a:r>
            <a:r>
              <a:rPr dirty="0" err="1"/>
              <a:t>código</a:t>
            </a:r>
            <a:r>
              <a:rPr dirty="0"/>
              <a:t> o la </a:t>
            </a:r>
            <a:r>
              <a:rPr dirty="0" err="1"/>
              <a:t>configuración</a:t>
            </a:r>
            <a:r>
              <a:rPr dirty="0"/>
              <a:t> que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permitir</a:t>
            </a:r>
            <a:r>
              <a:rPr dirty="0"/>
              <a:t> </a:t>
            </a:r>
            <a:r>
              <a:rPr dirty="0" err="1"/>
              <a:t>accesos</a:t>
            </a:r>
            <a:r>
              <a:rPr dirty="0"/>
              <a:t>, </a:t>
            </a:r>
            <a:r>
              <a:rPr dirty="0" err="1"/>
              <a:t>acciones</a:t>
            </a:r>
            <a:r>
              <a:rPr dirty="0"/>
              <a:t> o </a:t>
            </a:r>
            <a:r>
              <a:rPr dirty="0" err="1"/>
              <a:t>exposición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 no </a:t>
            </a:r>
            <a:r>
              <a:rPr dirty="0" err="1"/>
              <a:t>deseados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148840"/>
            <a:ext cx="3520440" cy="3154680"/>
          </a:xfrm>
          <a:prstGeom prst="roundRect">
            <a:avLst/>
          </a:prstGeom>
          <a:solidFill>
            <a:srgbClr val="17243B"/>
          </a:solidFill>
          <a:ln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2423160"/>
            <a:ext cx="29260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30D3BE"/>
                </a:solidFill>
                <a:latin typeface="Aptos"/>
              </a:defRPr>
            </a:pPr>
            <a:r>
              <a:t>OWASP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971800"/>
            <a:ext cx="2880360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2F6FC"/>
                </a:solidFill>
                <a:latin typeface="Aptos"/>
              </a:defRPr>
            </a:pPr>
            <a:r>
              <a:t>Organización que publica guías y recursos gratuitos para mejorar la seguridad del software.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148840"/>
            <a:ext cx="3520440" cy="3154680"/>
          </a:xfrm>
          <a:prstGeom prst="roundRect">
            <a:avLst/>
          </a:prstGeom>
          <a:solidFill>
            <a:srgbClr val="17243B"/>
          </a:solidFill>
          <a:ln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2423160"/>
            <a:ext cx="29260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B25C"/>
                </a:solidFill>
                <a:latin typeface="Aptos"/>
              </a:defRPr>
            </a:pPr>
            <a:r>
              <a:t>OWASP TOP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971800"/>
            <a:ext cx="2880360" cy="1828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2F6FC"/>
                </a:solidFill>
                <a:latin typeface="Aptos"/>
              </a:defRPr>
            </a:pPr>
            <a:r>
              <a:t>Una lista de riesgos importantes en aplicaciones web que ayuda a priorizar qué revisar.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30D3BE"/>
                </a:solidFill>
                <a:latin typeface="Aptos"/>
              </a:defRPr>
            </a:pPr>
            <a:r>
              <a:t>02 · RIESGOS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2F6FC"/>
                </a:solidFill>
                <a:latin typeface="Aptos"/>
              </a:defRPr>
            </a:pPr>
            <a:r>
              <a:t>Cinco vulnerabilidades que vamos a revisar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ADBCCF"/>
                </a:solidFill>
                <a:latin typeface="Aptos"/>
              </a:defRPr>
            </a:pPr>
            <a:r>
              <a:t>Cada una afecta una parte distinta de la seguridad.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DBCCF"/>
                </a:solidFill>
                <a:latin typeface="Aptos"/>
              </a:defRPr>
            </a:pPr>
            <a:r>
              <a:t>OWASP · Seguridad en APIs con Node.js / Express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30D3B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3474720" cy="1325880"/>
          </a:xfrm>
          <a:prstGeom prst="roundRect">
            <a:avLst/>
          </a:prstGeom>
          <a:solidFill>
            <a:srgbClr val="17243B"/>
          </a:solidFill>
          <a:ln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203704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697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167128"/>
            <a:ext cx="2514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2F6FC"/>
                </a:solidFill>
                <a:latin typeface="Aptos"/>
              </a:defRPr>
            </a:pPr>
            <a:r>
              <a:t>Injection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24328"/>
            <a:ext cx="25146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ADBCCF"/>
                </a:solidFill>
                <a:latin typeface="Aptos"/>
              </a:defRPr>
            </a:pPr>
            <a:r>
              <a:t>Datos tratados como instrucciones SQL.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057400"/>
            <a:ext cx="3474720" cy="1325880"/>
          </a:xfrm>
          <a:prstGeom prst="roundRect">
            <a:avLst/>
          </a:prstGeom>
          <a:solidFill>
            <a:srgbClr val="17243B"/>
          </a:solidFill>
          <a:ln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2203704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B25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167128"/>
            <a:ext cx="2514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2F6FC"/>
                </a:solidFill>
                <a:latin typeface="Aptos"/>
              </a:defRPr>
            </a:pPr>
            <a:r>
              <a:t>Broken Access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624328"/>
            <a:ext cx="25146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ADBCCF"/>
                </a:solidFill>
                <a:latin typeface="Aptos"/>
              </a:defRPr>
            </a:pPr>
            <a:r>
              <a:t>Un usuario accede a recursos ajenos.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2057400"/>
            <a:ext cx="3474720" cy="1325880"/>
          </a:xfrm>
          <a:prstGeom prst="roundRect">
            <a:avLst/>
          </a:prstGeom>
          <a:solidFill>
            <a:srgbClr val="17243B"/>
          </a:solidFill>
          <a:ln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200" y="2203704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68A6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167128"/>
            <a:ext cx="2514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2F6FC"/>
                </a:solidFill>
                <a:latin typeface="Aptos"/>
              </a:defRPr>
            </a:pPr>
            <a:r>
              <a:t>Authentication Failures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624328"/>
            <a:ext cx="25146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ADBCCF"/>
                </a:solidFill>
                <a:latin typeface="Aptos"/>
              </a:defRPr>
            </a:pPr>
            <a:r>
              <a:t>No se verifica bien la identidad.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3749039"/>
            <a:ext cx="3977639" cy="1325880"/>
          </a:xfrm>
          <a:prstGeom prst="roundRect">
            <a:avLst/>
          </a:prstGeom>
          <a:solidFill>
            <a:srgbClr val="17243B"/>
          </a:solidFill>
          <a:ln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011680" y="3895344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30D3B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3858768"/>
            <a:ext cx="3017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2F6FC"/>
                </a:solidFill>
                <a:latin typeface="Aptos"/>
              </a:defRPr>
            </a:pPr>
            <a:r>
              <a:t>Security Misconfiguration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4315968"/>
            <a:ext cx="3017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ADBCCF"/>
                </a:solidFill>
                <a:latin typeface="Aptos"/>
              </a:defRPr>
            </a:pPr>
            <a:r>
              <a:t>Configuración insegura del servidor.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749039"/>
            <a:ext cx="3977639" cy="1325880"/>
          </a:xfrm>
          <a:prstGeom prst="roundRect">
            <a:avLst/>
          </a:prstGeom>
          <a:solidFill>
            <a:srgbClr val="17243B"/>
          </a:solidFill>
          <a:ln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3895344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70E1A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59" y="3858768"/>
            <a:ext cx="3017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2F6FC"/>
                </a:solidFill>
                <a:latin typeface="Aptos"/>
              </a:defRPr>
            </a:pPr>
            <a:r>
              <a:t>Cryptographic Failures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59" y="4315968"/>
            <a:ext cx="3017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ADBCCF"/>
                </a:solidFill>
                <a:latin typeface="Aptos"/>
              </a:defRPr>
            </a:pPr>
            <a:r>
              <a:t>Datos sensibles mal protegidos.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30D3BE"/>
                </a:solidFill>
                <a:latin typeface="Aptos"/>
              </a:defRPr>
            </a:pPr>
            <a:r>
              <a:t>03 · EJEMPLO DE CÓDIGO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2F6FC"/>
                </a:solidFill>
                <a:latin typeface="Aptos"/>
              </a:defRPr>
            </a:pPr>
            <a:r>
              <a:t>Injection: no mezclar datos con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ADBCCF"/>
                </a:solidFill>
                <a:latin typeface="Aptos"/>
              </a:defRPr>
            </a:pPr>
            <a:r>
              <a:t>En el archivo de la demo, el login vulnerable arma la consulta con los valores recibidos.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DBCCF"/>
                </a:solidFill>
                <a:latin typeface="Aptos"/>
              </a:defRPr>
            </a:pPr>
            <a:r>
              <a:t>OWASP · Seguridad en APIs con Node.js / Express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30D3B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5349240" cy="3246120"/>
          </a:xfrm>
          <a:prstGeom prst="roundRect">
            <a:avLst/>
          </a:prstGeom>
          <a:solidFill>
            <a:srgbClr val="17243B"/>
          </a:solidFill>
          <a:ln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2167128"/>
            <a:ext cx="4983479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30D3BE"/>
                </a:solidFill>
                <a:latin typeface="Aptos"/>
              </a:defRPr>
            </a:pPr>
            <a:r>
              <a:t>VULNERABLE · vulnerable/app.js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468880"/>
            <a:ext cx="4983479" cy="162198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F2F6FC"/>
                </a:solidFill>
                <a:latin typeface="Consolas"/>
              </a:defRPr>
            </a:pPr>
            <a:r>
              <a:rPr dirty="0" err="1">
                <a:solidFill>
                  <a:schemeClr val="bg1"/>
                </a:solidFill>
              </a:rPr>
              <a:t>const</a:t>
            </a:r>
            <a:r>
              <a:rPr dirty="0">
                <a:solidFill>
                  <a:schemeClr val="bg1"/>
                </a:solidFill>
              </a:rPr>
              <a:t> query </a:t>
            </a:r>
            <a:r>
              <a:rPr dirty="0" smtClean="0"/>
              <a:t>=</a:t>
            </a:r>
            <a:endParaRPr lang="es-ES" dirty="0" smtClean="0">
              <a:solidFill>
                <a:srgbClr val="00B0F0"/>
              </a:solidFill>
            </a:endParaRPr>
          </a:p>
          <a:p>
            <a:pPr>
              <a:spcAft>
                <a:spcPts val="100"/>
              </a:spcAft>
              <a:defRPr sz="1400">
                <a:solidFill>
                  <a:srgbClr val="F2F6FC"/>
                </a:solidFill>
                <a:latin typeface="Consolas"/>
              </a:defRPr>
            </a:pPr>
            <a:endParaRPr dirty="0"/>
          </a:p>
          <a:p>
            <a:pPr>
              <a:spcAft>
                <a:spcPts val="100"/>
              </a:spcAft>
              <a:defRPr sz="1400">
                <a:solidFill>
                  <a:srgbClr val="F2F6FC"/>
                </a:solidFill>
                <a:latin typeface="Consolas"/>
              </a:defRPr>
            </a:pPr>
            <a:r>
              <a:rPr dirty="0"/>
              <a:t>  `SELECT * FROM users</a:t>
            </a:r>
          </a:p>
          <a:p>
            <a:pPr>
              <a:spcAft>
                <a:spcPts val="100"/>
              </a:spcAft>
              <a:defRPr sz="1400">
                <a:solidFill>
                  <a:srgbClr val="F2F6FC"/>
                </a:solidFill>
                <a:latin typeface="Consolas"/>
              </a:defRPr>
            </a:pPr>
            <a:r>
              <a:rPr dirty="0"/>
              <a:t>   WHERE username='${username}'</a:t>
            </a:r>
          </a:p>
          <a:p>
            <a:pPr>
              <a:spcAft>
                <a:spcPts val="100"/>
              </a:spcAft>
              <a:defRPr sz="1400">
                <a:solidFill>
                  <a:srgbClr val="F2F6FC"/>
                </a:solidFill>
                <a:latin typeface="Consolas"/>
              </a:defRPr>
            </a:pPr>
            <a:r>
              <a:rPr dirty="0"/>
              <a:t>   AND password='${password</a:t>
            </a:r>
            <a:r>
              <a:rPr dirty="0" smtClean="0"/>
              <a:t>}'`;</a:t>
            </a:r>
            <a:endParaRPr lang="es-ES" dirty="0" smtClean="0"/>
          </a:p>
          <a:p>
            <a:pPr>
              <a:spcAft>
                <a:spcPts val="100"/>
              </a:spcAft>
              <a:defRPr sz="1400">
                <a:solidFill>
                  <a:srgbClr val="F2F6FC"/>
                </a:solidFill>
                <a:latin typeface="Consolas"/>
              </a:defRPr>
            </a:pPr>
            <a:endParaRPr dirty="0"/>
          </a:p>
          <a:p>
            <a:pPr>
              <a:spcAft>
                <a:spcPts val="100"/>
              </a:spcAft>
              <a:defRPr sz="1400">
                <a:solidFill>
                  <a:srgbClr val="F2F6FC"/>
                </a:solidFill>
                <a:latin typeface="Consolas"/>
              </a:defRPr>
            </a:pPr>
            <a:r>
              <a:rPr dirty="0" err="1"/>
              <a:t>const</a:t>
            </a:r>
            <a:r>
              <a:rPr dirty="0"/>
              <a:t> result = await </a:t>
            </a:r>
            <a:r>
              <a:rPr dirty="0" err="1"/>
              <a:t>db.query</a:t>
            </a:r>
            <a:r>
              <a:rPr dirty="0"/>
              <a:t>(query);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57400"/>
            <a:ext cx="5349240" cy="3246120"/>
          </a:xfrm>
          <a:prstGeom prst="roundRect">
            <a:avLst/>
          </a:prstGeom>
          <a:solidFill>
            <a:srgbClr val="17243B"/>
          </a:solidFill>
          <a:ln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2167128"/>
            <a:ext cx="4983479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30D3BE"/>
                </a:solidFill>
                <a:latin typeface="Aptos"/>
              </a:defRPr>
            </a:pPr>
            <a:r>
              <a:t>CORREGIDO · patrón de segura/app.js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4983479" cy="2743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F2F6FC"/>
                </a:solidFill>
                <a:latin typeface="Consolas"/>
              </a:defRPr>
            </a:pPr>
            <a:r>
              <a:rPr dirty="0" err="1"/>
              <a:t>const</a:t>
            </a:r>
            <a:r>
              <a:rPr dirty="0"/>
              <a:t> result = await </a:t>
            </a:r>
            <a:r>
              <a:rPr dirty="0" err="1"/>
              <a:t>db.query</a:t>
            </a:r>
            <a:r>
              <a:rPr dirty="0"/>
              <a:t>(</a:t>
            </a:r>
          </a:p>
          <a:p>
            <a:pPr>
              <a:spcAft>
                <a:spcPts val="100"/>
              </a:spcAft>
              <a:defRPr sz="1400">
                <a:solidFill>
                  <a:srgbClr val="F2F6FC"/>
                </a:solidFill>
                <a:latin typeface="Consolas"/>
              </a:defRPr>
            </a:pPr>
            <a:r>
              <a:rPr dirty="0"/>
              <a:t>  'SELECT * FROM users WHERE username = $1',</a:t>
            </a:r>
          </a:p>
          <a:p>
            <a:pPr>
              <a:spcAft>
                <a:spcPts val="100"/>
              </a:spcAft>
              <a:defRPr sz="1400">
                <a:solidFill>
                  <a:srgbClr val="F2F6FC"/>
                </a:solidFill>
                <a:latin typeface="Consolas"/>
              </a:defRPr>
            </a:pPr>
            <a:r>
              <a:rPr dirty="0"/>
              <a:t>  [username]</a:t>
            </a:r>
          </a:p>
          <a:p>
            <a:pPr>
              <a:spcAft>
                <a:spcPts val="100"/>
              </a:spcAft>
              <a:defRPr sz="1400">
                <a:solidFill>
                  <a:srgbClr val="F2F6FC"/>
                </a:solidFill>
                <a:latin typeface="Consolas"/>
              </a:defRPr>
            </a:pPr>
            <a:r>
              <a:rPr dirty="0"/>
              <a:t>);</a:t>
            </a:r>
          </a:p>
          <a:p>
            <a:pPr>
              <a:spcAft>
                <a:spcPts val="100"/>
              </a:spcAft>
              <a:defRPr sz="1400">
                <a:solidFill>
                  <a:srgbClr val="F2F6FC"/>
                </a:solidFill>
                <a:latin typeface="Consolas"/>
              </a:defRPr>
            </a:pPr>
            <a:r>
              <a:rPr dirty="0"/>
              <a:t> </a:t>
            </a:r>
          </a:p>
          <a:p>
            <a:pPr>
              <a:spcAft>
                <a:spcPts val="100"/>
              </a:spcAft>
              <a:defRPr sz="1400">
                <a:solidFill>
                  <a:srgbClr val="F2F6FC"/>
                </a:solidFill>
                <a:latin typeface="Consolas"/>
              </a:defRPr>
            </a:pPr>
            <a:r>
              <a:rPr dirty="0" err="1"/>
              <a:t>const</a:t>
            </a:r>
            <a:r>
              <a:rPr dirty="0"/>
              <a:t> match = await </a:t>
            </a:r>
            <a:r>
              <a:rPr dirty="0" err="1"/>
              <a:t>bcrypt.compare</a:t>
            </a:r>
            <a:r>
              <a:rPr dirty="0"/>
              <a:t>(</a:t>
            </a:r>
          </a:p>
          <a:p>
            <a:pPr>
              <a:spcAft>
                <a:spcPts val="100"/>
              </a:spcAft>
              <a:defRPr sz="1400">
                <a:solidFill>
                  <a:srgbClr val="F2F6FC"/>
                </a:solidFill>
                <a:latin typeface="Consolas"/>
              </a:defRPr>
            </a:pPr>
            <a:r>
              <a:rPr dirty="0"/>
              <a:t>  password, </a:t>
            </a:r>
            <a:r>
              <a:rPr dirty="0" err="1"/>
              <a:t>result.rows</a:t>
            </a:r>
            <a:r>
              <a:rPr dirty="0"/>
              <a:t>[0].password</a:t>
            </a:r>
          </a:p>
          <a:p>
            <a:pPr>
              <a:spcAft>
                <a:spcPts val="100"/>
              </a:spcAft>
              <a:defRPr sz="1400">
                <a:solidFill>
                  <a:srgbClr val="F2F6FC"/>
                </a:solidFill>
                <a:latin typeface="Consolas"/>
              </a:defRPr>
            </a:pPr>
            <a:r>
              <a:rPr dirty="0"/>
              <a:t>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486400"/>
            <a:ext cx="50292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F6973"/>
                </a:solidFill>
                <a:latin typeface="Aptos"/>
              </a:defRPr>
            </a:pPr>
            <a:r>
              <a:t>Riesgo: la entrada puede alterar la consulta SQL.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486400"/>
            <a:ext cx="50292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70E1A4"/>
                </a:solidFill>
                <a:latin typeface="Aptos"/>
              </a:defRPr>
            </a:pPr>
            <a:r>
              <a:t>Mejora: el parámetro se envía separado del SQL.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30D3BE"/>
                </a:solidFill>
                <a:latin typeface="Aptos"/>
              </a:defRPr>
            </a:pPr>
            <a:r>
              <a:t>04 · EJEMPLO DE CÓDIGO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2F6FC"/>
                </a:solidFill>
                <a:latin typeface="Aptos"/>
              </a:defRPr>
            </a:pPr>
            <a:r>
              <a:t>Broken Access Control: comprobar permisos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ADBCCF"/>
                </a:solidFill>
                <a:latin typeface="Aptos"/>
              </a:defRPr>
            </a:pPr>
            <a:r>
              <a:t>La versión vulnerable valida el token, pero no comprueba si el usuario puede ver ese perfil.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DBCCF"/>
                </a:solidFill>
                <a:latin typeface="Aptos"/>
              </a:defRPr>
            </a:pPr>
            <a:r>
              <a:t>OWASP · Seguridad en APIs con Node.js / Express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30D3B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5349240" cy="3291840"/>
          </a:xfrm>
          <a:prstGeom prst="roundRect">
            <a:avLst/>
          </a:prstGeom>
          <a:solidFill>
            <a:srgbClr val="17243B"/>
          </a:solidFill>
          <a:ln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2167128"/>
            <a:ext cx="4983479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30D3BE"/>
                </a:solidFill>
                <a:latin typeface="Aptos"/>
              </a:defRPr>
            </a:pPr>
            <a:r>
              <a:t>VULNERABLE · vulnerable/app.js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468880"/>
            <a:ext cx="4983479" cy="2788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F2F6FC"/>
                </a:solidFill>
                <a:latin typeface="Consolas"/>
              </a:defRPr>
            </a:pPr>
            <a:r>
              <a:t>jwt.verify(token, SECRET);</a:t>
            </a:r>
          </a:p>
          <a:p>
            <a:pPr>
              <a:spcAft>
                <a:spcPts val="100"/>
              </a:spcAft>
              <a:defRPr sz="1400">
                <a:solidFill>
                  <a:srgbClr val="F2F6FC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100"/>
              </a:spcAft>
              <a:defRPr sz="1400">
                <a:solidFill>
                  <a:srgbClr val="F2F6FC"/>
                </a:solidFill>
                <a:latin typeface="Consolas"/>
              </a:defRPr>
            </a:pPr>
            <a:r>
              <a:t>const user = users.find(</a:t>
            </a:r>
          </a:p>
          <a:p>
            <a:pPr>
              <a:spcAft>
                <a:spcPts val="100"/>
              </a:spcAft>
              <a:defRPr sz="1400">
                <a:solidFill>
                  <a:srgbClr val="F2F6FC"/>
                </a:solidFill>
                <a:latin typeface="Consolas"/>
              </a:defRPr>
            </a:pPr>
            <a:r>
              <a:t>  u =&gt; u.id === parseInt(req.params.id)</a:t>
            </a:r>
          </a:p>
          <a:p>
            <a:pPr>
              <a:spcAft>
                <a:spcPts val="100"/>
              </a:spcAft>
              <a:defRPr sz="1400">
                <a:solidFill>
                  <a:srgbClr val="F2F6FC"/>
                </a:solidFill>
                <a:latin typeface="Consolas"/>
              </a:defRPr>
            </a:pPr>
            <a:r>
              <a:t>);</a:t>
            </a:r>
          </a:p>
          <a:p>
            <a:pPr>
              <a:spcAft>
                <a:spcPts val="100"/>
              </a:spcAft>
              <a:defRPr sz="1400">
                <a:solidFill>
                  <a:srgbClr val="F2F6FC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100"/>
              </a:spcAft>
              <a:defRPr sz="1400">
                <a:solidFill>
                  <a:srgbClr val="F2F6FC"/>
                </a:solidFill>
                <a:latin typeface="Consolas"/>
              </a:defRPr>
            </a:pPr>
            <a:r>
              <a:t>res.json(user);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57400"/>
            <a:ext cx="5349240" cy="3291840"/>
          </a:xfrm>
          <a:prstGeom prst="roundRect">
            <a:avLst/>
          </a:prstGeom>
          <a:solidFill>
            <a:srgbClr val="17243B"/>
          </a:solidFill>
          <a:ln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2167128"/>
            <a:ext cx="4983479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30D3BE"/>
                </a:solidFill>
                <a:latin typeface="Aptos"/>
              </a:defRPr>
            </a:pPr>
            <a:r>
              <a:t>CORREGIDO · segura/app.js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4983479" cy="2788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F2F6FC"/>
                </a:solidFill>
                <a:latin typeface="Consolas"/>
              </a:defRPr>
            </a:pPr>
            <a:r>
              <a:t>if (</a:t>
            </a:r>
          </a:p>
          <a:p>
            <a:pPr>
              <a:spcAft>
                <a:spcPts val="100"/>
              </a:spcAft>
              <a:defRPr sz="1400">
                <a:solidFill>
                  <a:srgbClr val="F2F6FC"/>
                </a:solidFill>
                <a:latin typeface="Consolas"/>
              </a:defRPr>
            </a:pPr>
            <a:r>
              <a:t>  req.user.role !== 'admin' &amp;&amp;</a:t>
            </a:r>
          </a:p>
          <a:p>
            <a:pPr>
              <a:spcAft>
                <a:spcPts val="100"/>
              </a:spcAft>
              <a:defRPr sz="1400">
                <a:solidFill>
                  <a:srgbClr val="F2F6FC"/>
                </a:solidFill>
                <a:latin typeface="Consolas"/>
              </a:defRPr>
            </a:pPr>
            <a:r>
              <a:t>  req.user.userId !== requestedId</a:t>
            </a:r>
          </a:p>
          <a:p>
            <a:pPr>
              <a:spcAft>
                <a:spcPts val="100"/>
              </a:spcAft>
              <a:defRPr sz="1400">
                <a:solidFill>
                  <a:srgbClr val="F2F6FC"/>
                </a:solidFill>
                <a:latin typeface="Consolas"/>
              </a:defRPr>
            </a:pPr>
            <a:r>
              <a:t>) {</a:t>
            </a:r>
          </a:p>
          <a:p>
            <a:pPr>
              <a:spcAft>
                <a:spcPts val="100"/>
              </a:spcAft>
              <a:defRPr sz="1400">
                <a:solidFill>
                  <a:srgbClr val="F2F6FC"/>
                </a:solidFill>
                <a:latin typeface="Consolas"/>
              </a:defRPr>
            </a:pPr>
            <a:r>
              <a:t>  return res.status(403).json({</a:t>
            </a:r>
          </a:p>
          <a:p>
            <a:pPr>
              <a:spcAft>
                <a:spcPts val="100"/>
              </a:spcAft>
              <a:defRPr sz="1400">
                <a:solidFill>
                  <a:srgbClr val="F2F6FC"/>
                </a:solidFill>
                <a:latin typeface="Consolas"/>
              </a:defRPr>
            </a:pPr>
            <a:r>
              <a:t>    error: 'No podés acceder a datos de otro usuario'</a:t>
            </a:r>
          </a:p>
          <a:p>
            <a:pPr>
              <a:spcAft>
                <a:spcPts val="100"/>
              </a:spcAft>
              <a:defRPr sz="1400">
                <a:solidFill>
                  <a:srgbClr val="F2F6FC"/>
                </a:solidFill>
                <a:latin typeface="Consolas"/>
              </a:defRPr>
            </a:pPr>
            <a:r>
              <a:t>  });</a:t>
            </a:r>
          </a:p>
          <a:p>
            <a:pPr>
              <a:spcAft>
                <a:spcPts val="100"/>
              </a:spcAft>
              <a:defRPr sz="1400">
                <a:solidFill>
                  <a:srgbClr val="F2F6FC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532120"/>
            <a:ext cx="10698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B25C"/>
                </a:solidFill>
                <a:latin typeface="Aptos"/>
              </a:defRPr>
            </a:pPr>
            <a:r>
              <a:t>Idea clave: estar autenticado no significa tener permiso para todo.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30D3BE"/>
                </a:solidFill>
                <a:latin typeface="Aptos"/>
              </a:defRPr>
            </a:pPr>
            <a:r>
              <a:t>05 · IDENTIDAD Y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2F6FC"/>
                </a:solidFill>
                <a:latin typeface="Aptos"/>
              </a:defRPr>
            </a:pPr>
            <a:r>
              <a:t>Autenticación y protección de contraseñas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ADBCCF"/>
                </a:solidFill>
                <a:latin typeface="Aptos"/>
              </a:defRPr>
            </a:pPr>
            <a:r>
              <a:t>La demo segura aplica dos medidas complementarias.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DBCCF"/>
                </a:solidFill>
                <a:latin typeface="Aptos"/>
              </a:defRPr>
            </a:pPr>
            <a:r>
              <a:t>OWASP · Seguridad en APIs con Node.js / Express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30D3B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5349240" cy="3383280"/>
          </a:xfrm>
          <a:prstGeom prst="roundRect">
            <a:avLst/>
          </a:prstGeom>
          <a:solidFill>
            <a:srgbClr val="17243B"/>
          </a:solidFill>
          <a:ln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7548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68A6FF"/>
                </a:solidFill>
                <a:latin typeface="Aptos"/>
              </a:defRPr>
            </a:pPr>
            <a:r>
              <a:t>TOKEN CON EXPIRACIÓN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788920"/>
            <a:ext cx="4846320" cy="1143000"/>
          </a:xfrm>
          <a:prstGeom prst="roundRect">
            <a:avLst/>
          </a:prstGeom>
          <a:solidFill>
            <a:srgbClr val="17243B"/>
          </a:solidFill>
          <a:ln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898648"/>
            <a:ext cx="4480559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30D3BE"/>
                </a:solidFill>
                <a:latin typeface="Aptos"/>
              </a:defRPr>
            </a:pPr>
            <a:r>
              <a:t>SEGURA · JWT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00400"/>
            <a:ext cx="4480559" cy="640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F2F6FC"/>
                </a:solidFill>
                <a:latin typeface="Consolas"/>
              </a:defRPr>
            </a:pPr>
            <a:r>
              <a:t>jwt.sign(payload, SECRET, { expiresIn: '1h' });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6634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ADBCCF"/>
                </a:solidFill>
                <a:latin typeface="Aptos"/>
              </a:defRPr>
            </a:pPr>
            <a:r>
              <a:t>Si el token se filtra, deja de ser válido después de una hora.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57400"/>
            <a:ext cx="5349240" cy="3383280"/>
          </a:xfrm>
          <a:prstGeom prst="roundRect">
            <a:avLst/>
          </a:prstGeom>
          <a:solidFill>
            <a:srgbClr val="17243B"/>
          </a:solidFill>
          <a:ln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2331720"/>
            <a:ext cx="47548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70E1A4"/>
                </a:solidFill>
                <a:latin typeface="Aptos"/>
              </a:defRPr>
            </a:pPr>
            <a:r>
              <a:t>BCRYPT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2788920"/>
            <a:ext cx="4846320" cy="1143000"/>
          </a:xfrm>
          <a:prstGeom prst="roundRect">
            <a:avLst/>
          </a:prstGeom>
          <a:solidFill>
            <a:srgbClr val="17243B"/>
          </a:solidFill>
          <a:ln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2898648"/>
            <a:ext cx="4480559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30D3BE"/>
                </a:solidFill>
                <a:latin typeface="Aptos"/>
              </a:defRPr>
            </a:pPr>
            <a:r>
              <a:t>SEGURA · CONTRASEÑA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200400"/>
            <a:ext cx="4480559" cy="6400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F2F6FC"/>
                </a:solidFill>
                <a:latin typeface="Consolas"/>
              </a:defRPr>
            </a:pPr>
            <a:r>
              <a:t>const match = await bcrypt.compare(password, user.password);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160520"/>
            <a:ext cx="46634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ADBCCF"/>
                </a:solidFill>
                <a:latin typeface="Aptos"/>
              </a:defRPr>
            </a:pPr>
            <a:r>
              <a:t>Se compara la contraseña ingresada con su hash, sin guardarla en texto plano.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30D3BE"/>
                </a:solidFill>
                <a:latin typeface="Aptos"/>
              </a:defRPr>
            </a:pPr>
            <a:r>
              <a:t>06 · CONFIGURACIÓN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2F6FC"/>
                </a:solidFill>
                <a:latin typeface="Aptos"/>
              </a:defRPr>
            </a:pPr>
            <a:r>
              <a:t>Reducir la información expuesta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ADBCCF"/>
                </a:solidFill>
                <a:latin typeface="Aptos"/>
              </a:defRPr>
            </a:pPr>
            <a:r>
              <a:t>La API segura incorpora herramientas y respuestas de error más cuidadosas.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DBCCF"/>
                </a:solidFill>
                <a:latin typeface="Aptos"/>
              </a:defRPr>
            </a:pPr>
            <a:r>
              <a:t>OWASP · Seguridad en APIs con Node.js / Express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30D3B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5212080" cy="1965960"/>
          </a:xfrm>
          <a:prstGeom prst="roundRect">
            <a:avLst/>
          </a:prstGeom>
          <a:solidFill>
            <a:srgbClr val="17243B"/>
          </a:solidFill>
          <a:ln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167128"/>
            <a:ext cx="4846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30D3BE"/>
                </a:solidFill>
                <a:latin typeface="Aptos"/>
              </a:defRPr>
            </a:pPr>
            <a:r>
              <a:t>SEGURA · CABECERAS HTTP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4846320" cy="146303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F2F6FC"/>
                </a:solidFill>
                <a:latin typeface="Consolas"/>
              </a:defRPr>
            </a:pPr>
            <a:r>
              <a:t>app.use(helmet());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160520"/>
            <a:ext cx="48463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ADBCCF"/>
                </a:solidFill>
                <a:latin typeface="Aptos"/>
              </a:defRPr>
            </a:pPr>
            <a:r>
              <a:t>Helmet configura cabeceras HTTP que ayudan a reducir ciertos riesgos.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057400"/>
            <a:ext cx="5212080" cy="1965960"/>
          </a:xfrm>
          <a:prstGeom prst="roundRect">
            <a:avLst/>
          </a:prstGeom>
          <a:solidFill>
            <a:srgbClr val="17243B"/>
          </a:solidFill>
          <a:ln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8"/>
            <a:ext cx="48463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30D3BE"/>
                </a:solidFill>
                <a:latin typeface="Aptos"/>
              </a:defRPr>
            </a:pPr>
            <a:r>
              <a:t>SEGURA · ERROR GENÉRICO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468880"/>
            <a:ext cx="4846320" cy="146303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F2F6FC"/>
                </a:solidFill>
                <a:latin typeface="Consolas"/>
              </a:defRPr>
            </a:pPr>
            <a:r>
              <a:t>res.status(500).json({</a:t>
            </a:r>
          </a:p>
          <a:p>
            <a:pPr>
              <a:spcAft>
                <a:spcPts val="100"/>
              </a:spcAft>
              <a:defRPr sz="1400">
                <a:solidFill>
                  <a:srgbClr val="F2F6FC"/>
                </a:solidFill>
                <a:latin typeface="Consolas"/>
              </a:defRPr>
            </a:pPr>
            <a:r>
              <a:t>  error: 'Algo salió mal. Intentá más tarde.'</a:t>
            </a:r>
          </a:p>
          <a:p>
            <a:pPr>
              <a:spcAft>
                <a:spcPts val="100"/>
              </a:spcAft>
              <a:defRPr sz="1400">
                <a:solidFill>
                  <a:srgbClr val="F2F6FC"/>
                </a:solidFill>
                <a:latin typeface="Consolas"/>
              </a:defRPr>
            </a:pPr>
            <a:r>
              <a:t>});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4160520"/>
            <a:ext cx="48463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ADBCCF"/>
                </a:solidFill>
                <a:latin typeface="Aptos"/>
              </a:defRPr>
            </a:pPr>
            <a:r>
              <a:t>El cliente no recibe rutas internas ni el stack trace completo.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39496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30D3BE"/>
                </a:solidFill>
                <a:latin typeface="Aptos"/>
              </a:defRPr>
            </a:pPr>
            <a:r>
              <a:t>También: JWT_SECRET desde variables de entorno + límite de intentos con express-rate-limit.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30D3BE"/>
                </a:solidFill>
                <a:latin typeface="Aptos"/>
              </a:defRPr>
            </a:pPr>
            <a:r>
              <a:t>07 · DEMO TÉCNICA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2F6FC"/>
                </a:solidFill>
                <a:latin typeface="Aptos"/>
              </a:defRPr>
            </a:pPr>
            <a:r>
              <a:rPr dirty="0"/>
              <a:t>¿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voy</a:t>
            </a:r>
            <a:r>
              <a:rPr dirty="0"/>
              <a:t> a </a:t>
            </a:r>
            <a:r>
              <a:rPr dirty="0" err="1"/>
              <a:t>mostrar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vivo?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ADBCCF"/>
                </a:solidFill>
                <a:latin typeface="Aptos"/>
              </a:defRPr>
            </a:pPr>
            <a:r>
              <a:t>Comparar las respuestas de ambas versiones de la API.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DBCCF"/>
                </a:solidFill>
                <a:latin typeface="Aptos"/>
              </a:defRPr>
            </a:pPr>
            <a:r>
              <a:t>OWASP · Seguridad en APIs con Node.js / Express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30D3B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423160"/>
            <a:ext cx="2560320" cy="2148840"/>
          </a:xfrm>
          <a:prstGeom prst="roundRect">
            <a:avLst/>
          </a:prstGeom>
          <a:solidFill>
            <a:srgbClr val="17243B"/>
          </a:solidFill>
          <a:ln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457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30D3B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00400"/>
            <a:ext cx="2148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2F6FC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57600"/>
            <a:ext cx="21488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ADBCCF"/>
                </a:solidFill>
                <a:latin typeface="Aptos"/>
              </a:defRPr>
            </a:pPr>
            <a:r>
              <a:t>Enviar credenciales a POST /login.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423160"/>
            <a:ext cx="2560320" cy="2148840"/>
          </a:xfrm>
          <a:prstGeom prst="roundRect">
            <a:avLst/>
          </a:prstGeom>
          <a:solidFill>
            <a:srgbClr val="17243B"/>
          </a:solidFill>
          <a:ln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39" y="2606040"/>
            <a:ext cx="457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30D3B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200400"/>
            <a:ext cx="2148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2F6FC"/>
                </a:solidFill>
                <a:latin typeface="Aptos"/>
              </a:defRPr>
            </a:pPr>
            <a:r>
              <a:t>Token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657600"/>
            <a:ext cx="21488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ADBCCF"/>
                </a:solidFill>
                <a:latin typeface="Aptos"/>
              </a:defRPr>
            </a:pPr>
            <a:r>
              <a:t>La versión segura devuelve un JWT con expiración.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2423160"/>
            <a:ext cx="2560320" cy="2148840"/>
          </a:xfrm>
          <a:prstGeom prst="roundRect">
            <a:avLst/>
          </a:prstGeom>
          <a:solidFill>
            <a:srgbClr val="17243B"/>
          </a:solidFill>
          <a:ln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2606040"/>
            <a:ext cx="457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30D3B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200400"/>
            <a:ext cx="2148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2F6FC"/>
                </a:solidFill>
                <a:latin typeface="Aptos"/>
              </a:defRPr>
            </a:pPr>
            <a:r>
              <a:t>Permisos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57600"/>
            <a:ext cx="21488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ADBCCF"/>
                </a:solidFill>
                <a:latin typeface="Aptos"/>
              </a:defRPr>
            </a:pPr>
            <a:r>
              <a:t>Probar GET /users/:id con distintos usuarios.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2423160"/>
            <a:ext cx="2560320" cy="2148840"/>
          </a:xfrm>
          <a:prstGeom prst="roundRect">
            <a:avLst/>
          </a:prstGeom>
          <a:solidFill>
            <a:srgbClr val="17243B"/>
          </a:solidFill>
          <a:ln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59" y="2606040"/>
            <a:ext cx="457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30D3B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59" y="3200400"/>
            <a:ext cx="21488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2F6FC"/>
                </a:solidFill>
                <a:latin typeface="Aptos"/>
              </a:defRPr>
            </a:pPr>
            <a:r>
              <a:t>Resultado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59" y="3657600"/>
            <a:ext cx="21488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ADBCCF"/>
                </a:solidFill>
                <a:latin typeface="Aptos"/>
              </a:defRPr>
            </a:pPr>
            <a:r>
              <a:t>La versión segura devuelve 403 si no hay permiso.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166360"/>
            <a:ext cx="105156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B25C"/>
                </a:solidFill>
                <a:latin typeface="Aptos"/>
              </a:defRPr>
            </a:pPr>
            <a:r>
              <a:t>Importante: la demo usa usuarios en memoria. querySeguro() simula una búsqueda segura; no es una conexión real a PostgreSQL.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30D3BE"/>
                </a:solidFill>
                <a:latin typeface="Aptos"/>
              </a:defRPr>
            </a:pPr>
            <a:r>
              <a:t>08 · 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2F6FC"/>
                </a:solidFill>
                <a:latin typeface="Aptos"/>
              </a:defRPr>
            </a:pPr>
            <a:r>
              <a:t>¿Qué priorizaría en producción?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ADBCCF"/>
                </a:solidFill>
                <a:latin typeface="Aptos"/>
              </a:defRPr>
            </a:pPr>
            <a:r>
              <a:t>La seguridad se construye combinando medidas, no con una sola librería.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DBCCF"/>
                </a:solidFill>
                <a:latin typeface="Aptos"/>
              </a:defRPr>
            </a:pPr>
            <a:r>
              <a:t>OWASP · Seguridad en APIs con Node.js / Express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30D3BE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10607040" cy="685800"/>
          </a:xfrm>
          <a:prstGeom prst="roundRect">
            <a:avLst/>
          </a:prstGeom>
          <a:solidFill>
            <a:srgbClr val="17243B"/>
          </a:solidFill>
          <a:ln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039112"/>
            <a:ext cx="411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30D3B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029968"/>
            <a:ext cx="2377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2F6FC"/>
                </a:solidFill>
                <a:latin typeface="Aptos"/>
              </a:defRPr>
            </a:pPr>
            <a:r>
              <a:t>Control de acceso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2029968"/>
            <a:ext cx="7132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ADBCCF"/>
                </a:solidFill>
                <a:latin typeface="Aptos"/>
              </a:defRPr>
            </a:pPr>
            <a:r>
              <a:t>Cada ruta debe verificar identidad y permisos.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788920"/>
            <a:ext cx="10607040" cy="685800"/>
          </a:xfrm>
          <a:prstGeom prst="roundRect">
            <a:avLst/>
          </a:prstGeom>
          <a:solidFill>
            <a:srgbClr val="17243B"/>
          </a:solidFill>
          <a:ln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907791"/>
            <a:ext cx="411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30D3B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898648"/>
            <a:ext cx="2377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2F6FC"/>
                </a:solidFill>
                <a:latin typeface="Aptos"/>
              </a:defRPr>
            </a:pPr>
            <a:r>
              <a:t>Datos sensibles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898648"/>
            <a:ext cx="7132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ADBCCF"/>
                </a:solidFill>
                <a:latin typeface="Aptos"/>
              </a:defRPr>
            </a:pPr>
            <a:r>
              <a:t>Hash de contraseñas, HTTPS y secretos fuera del código.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657600"/>
            <a:ext cx="10607040" cy="685800"/>
          </a:xfrm>
          <a:prstGeom prst="roundRect">
            <a:avLst/>
          </a:prstGeom>
          <a:solidFill>
            <a:srgbClr val="17243B"/>
          </a:solidFill>
          <a:ln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776472"/>
            <a:ext cx="411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30D3B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767328"/>
            <a:ext cx="2377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2F6FC"/>
                </a:solidFill>
                <a:latin typeface="Aptos"/>
              </a:defRPr>
            </a:pPr>
            <a:r>
              <a:t>Entradas y errores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3767328"/>
            <a:ext cx="7132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ADBCCF"/>
                </a:solidFill>
                <a:latin typeface="Aptos"/>
              </a:defRPr>
            </a:pPr>
            <a:r>
              <a:t>Validación, consultas parametrizadas y errores genéricos.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526279"/>
            <a:ext cx="10607040" cy="685800"/>
          </a:xfrm>
          <a:prstGeom prst="roundRect">
            <a:avLst/>
          </a:prstGeom>
          <a:solidFill>
            <a:srgbClr val="17243B"/>
          </a:solidFill>
          <a:ln>
            <a:solidFill>
              <a:srgbClr val="17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645151"/>
            <a:ext cx="411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30D3B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636007"/>
            <a:ext cx="23774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2F6FC"/>
                </a:solidFill>
                <a:latin typeface="Aptos"/>
              </a:defRPr>
            </a:pPr>
            <a:r>
              <a:t>Mantenimiento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4636007"/>
            <a:ext cx="71323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ADBCCF"/>
                </a:solidFill>
                <a:latin typeface="Aptos"/>
              </a:defRPr>
            </a:pPr>
            <a:r>
              <a:t>Actualizar dependencias, auditar y registrar eventos relevantes.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69280"/>
            <a:ext cx="10241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70E1A4"/>
                </a:solidFill>
                <a:latin typeface="Aptos"/>
              </a:defRPr>
            </a:pPr>
            <a:r>
              <a:t>Conclusión: detectar una vulnerabilidad es el primer paso; hay que corregirla y volver a probar.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35475" y="153072"/>
            <a:ext cx="10972800" cy="20031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3000" b="1">
                <a:solidFill>
                  <a:srgbClr val="F2F6FC"/>
                </a:solidFill>
                <a:latin typeface="Aptos"/>
              </a:defRPr>
            </a:pPr>
            <a:r>
              <a:rPr lang="es-ES" sz="6000" dirty="0">
                <a:solidFill>
                  <a:schemeClr val="bg1"/>
                </a:solidFill>
              </a:rPr>
              <a:t>¡Gracias por escuchar!</a:t>
            </a:r>
          </a:p>
          <a:p>
            <a:pPr algn="ctr">
              <a:spcAft>
                <a:spcPts val="500"/>
              </a:spcAft>
              <a:defRPr sz="3000" b="1">
                <a:solidFill>
                  <a:srgbClr val="F2F6FC"/>
                </a:solidFill>
                <a:latin typeface="Aptos"/>
              </a:defRPr>
            </a:pPr>
            <a:endParaRPr sz="60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ADBCCF"/>
                </a:solidFill>
                <a:latin typeface="Aptos"/>
              </a:defRPr>
            </a:pPr>
            <a:r>
              <a:t>OWASP · Seguridad en APIs con Node.js / Express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30D3BE"/>
                </a:solidFill>
                <a:latin typeface="Aptos"/>
              </a:defRPr>
            </a:pPr>
            <a:r>
              <a:rPr lang="es-ES" dirty="0" smtClean="0"/>
              <a:t>10</a:t>
            </a:r>
            <a:endParaRPr dirty="0"/>
          </a:p>
        </p:txBody>
      </p:sp>
      <p:pic>
        <p:nvPicPr>
          <p:cNvPr id="26" name="Imagen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945" y="1272996"/>
            <a:ext cx="4743450" cy="2647950"/>
          </a:xfrm>
          <a:prstGeom prst="rect">
            <a:avLst/>
          </a:prstGeom>
        </p:spPr>
      </p:pic>
      <p:pic>
        <p:nvPicPr>
          <p:cNvPr id="28" name="Imagen 2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72" y="476356"/>
            <a:ext cx="1571625" cy="2781300"/>
          </a:xfrm>
          <a:prstGeom prst="rect">
            <a:avLst/>
          </a:prstGeom>
        </p:spPr>
      </p:pic>
      <p:pic>
        <p:nvPicPr>
          <p:cNvPr id="29" name="Imagen 2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9745" y="3688803"/>
            <a:ext cx="2095500" cy="2362200"/>
          </a:xfrm>
          <a:prstGeom prst="rect">
            <a:avLst/>
          </a:prstGeom>
        </p:spPr>
      </p:pic>
      <p:pic>
        <p:nvPicPr>
          <p:cNvPr id="1025" name="Imagen 10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8683" y="1409346"/>
            <a:ext cx="2539892" cy="2539892"/>
          </a:xfrm>
          <a:prstGeom prst="rect">
            <a:avLst/>
          </a:prstGeom>
        </p:spPr>
      </p:pic>
      <p:pic>
        <p:nvPicPr>
          <p:cNvPr id="25" name="Imagen 2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262" y="2189807"/>
            <a:ext cx="5078993" cy="2770360"/>
          </a:xfrm>
          <a:prstGeom prst="rect">
            <a:avLst/>
          </a:prstGeom>
        </p:spPr>
      </p:pic>
      <p:pic>
        <p:nvPicPr>
          <p:cNvPr id="31" name="Imagen 3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679" y="4025112"/>
            <a:ext cx="2381250" cy="2381250"/>
          </a:xfrm>
          <a:prstGeom prst="rect">
            <a:avLst/>
          </a:prstGeom>
        </p:spPr>
      </p:pic>
      <p:pic>
        <p:nvPicPr>
          <p:cNvPr id="1027" name="Imagen 102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3908" y="4380471"/>
            <a:ext cx="1834553" cy="1834553"/>
          </a:xfrm>
          <a:prstGeom prst="rect">
            <a:avLst/>
          </a:prstGeom>
        </p:spPr>
      </p:pic>
      <p:pic>
        <p:nvPicPr>
          <p:cNvPr id="1024" name="Imagen 102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0787" y="3499163"/>
            <a:ext cx="3407488" cy="274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938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852</Words>
  <Application>Microsoft Office PowerPoint</Application>
  <PresentationFormat>Panorámica</PresentationFormat>
  <Paragraphs>154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FACUNDO LUKACHER</cp:lastModifiedBy>
  <cp:revision>4</cp:revision>
  <dcterms:created xsi:type="dcterms:W3CDTF">2013-01-27T09:14:16Z</dcterms:created>
  <dcterms:modified xsi:type="dcterms:W3CDTF">2026-10-09T11:59:18Z</dcterms:modified>
  <cp:category/>
</cp:coreProperties>
</file>